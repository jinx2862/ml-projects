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7" r:id="rId1"/>
  </p:sldMasterIdLst>
  <p:notesMasterIdLst>
    <p:notesMasterId r:id="rId16"/>
  </p:notes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9144000"/>
  <p:embeddedFontLs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Corsiva" panose="020B0604020202020204" charset="0"/>
      <p:regular r:id="rId21"/>
      <p:bold r:id="rId22"/>
      <p:italic r:id="rId23"/>
      <p:boldItalic r:id="rId24"/>
    </p:embeddedFont>
    <p:embeddedFont>
      <p:font typeface="Roboto Mono" panose="00000009000000000000" pitchFamily="49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48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US" dirty="0" err="1"/>
              <a:t>Accuracy_Score</a:t>
            </a:r>
            <a:r>
              <a:rPr lang="en-US" dirty="0"/>
              <a:t>  Based on Model Build</a:t>
            </a:r>
          </a:p>
          <a:p>
            <a:pPr>
              <a:defRPr/>
            </a:pPr>
            <a:endParaRPr lang="en-US" dirty="0"/>
          </a:p>
        </c:rich>
      </c:tx>
      <c:layout>
        <c:manualLayout>
          <c:xMode val="edge"/>
          <c:yMode val="edge"/>
          <c:x val="0.24202693236624359"/>
          <c:y val="1.593325596712981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Sheet1!$D$11</c:f>
              <c:strCache>
                <c:ptCount val="1"/>
                <c:pt idx="0">
                  <c:v>ACCURACY SCORE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tint val="100000"/>
                    <a:shade val="100000"/>
                    <a:satMod val="130000"/>
                  </a:schemeClr>
                </a:gs>
                <a:gs pos="100000">
                  <a:schemeClr val="accent6">
                    <a:tint val="50000"/>
                    <a:shade val="100000"/>
                    <a:satMod val="350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multiLvlStrRef>
              <c:f>Sheet1!$B$12:$C$16</c:f>
              <c:multiLvlStrCache>
                <c:ptCount val="5"/>
                <c:lvl>
                  <c:pt idx="0">
                    <c:v>Decision Tree</c:v>
                  </c:pt>
                  <c:pt idx="1">
                    <c:v>Random Forest Regressor</c:v>
                  </c:pt>
                  <c:pt idx="2">
                    <c:v>Random Forest Regressor</c:v>
                  </c:pt>
                  <c:pt idx="3">
                    <c:v>Random Forest Regressor</c:v>
                  </c:pt>
                  <c:pt idx="4">
                    <c:v>Random Forest Regressor</c:v>
                  </c:pt>
                </c:lvl>
                <c:lvl>
                  <c:pt idx="0">
                    <c:v>Without Filteration</c:v>
                  </c:pt>
                  <c:pt idx="1">
                    <c:v>Filter Data(With Outliers)</c:v>
                  </c:pt>
                  <c:pt idx="2">
                    <c:v>Filter Data(Capped Outliers)</c:v>
                  </c:pt>
                  <c:pt idx="3">
                    <c:v>Filter Data(Removed Outliers)</c:v>
                  </c:pt>
                  <c:pt idx="4">
                    <c:v>Final Data</c:v>
                  </c:pt>
                </c:lvl>
              </c:multiLvlStrCache>
            </c:multiLvlStrRef>
          </c:cat>
          <c:val>
            <c:numRef>
              <c:f>Sheet1!$D$12:$D$16</c:f>
              <c:numCache>
                <c:formatCode>General</c:formatCode>
                <c:ptCount val="5"/>
                <c:pt idx="0">
                  <c:v>97.84</c:v>
                </c:pt>
                <c:pt idx="1">
                  <c:v>78.709999999999994</c:v>
                </c:pt>
                <c:pt idx="2">
                  <c:v>81.040000000000006</c:v>
                </c:pt>
                <c:pt idx="3">
                  <c:v>74.61</c:v>
                </c:pt>
                <c:pt idx="4">
                  <c:v>95.54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51-47D2-883B-A5C52536868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1645141679"/>
        <c:axId val="1645146479"/>
      </c:barChart>
      <c:catAx>
        <c:axId val="16451416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146479"/>
        <c:crosses val="autoZero"/>
        <c:auto val="1"/>
        <c:lblAlgn val="ctr"/>
        <c:lblOffset val="100"/>
        <c:noMultiLvlLbl val="0"/>
      </c:catAx>
      <c:valAx>
        <c:axId val="16451464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45141679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lt1">
                <a:lumMod val="95000"/>
                <a:alpha val="54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3A0F0-2890-DF4E-CDB8-6DFB594B0A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DD7CA4-F99F-C3C3-266E-99B17C15A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61E01-7BA2-3E76-D70A-8FE2651C4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9EAD2-E888-E5F3-8D8E-555629296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4A637-B31E-532C-52BD-9B7D82B9C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720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40FB2-948C-D887-59E1-85A9E7B4F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03AEE-F9F7-E6CC-1F10-51AA7D439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BA9F0-FDF3-47A0-C22C-ABF1E285F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EF69E-D571-6D23-1783-79A3628C0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526AFC-3FDD-C7E3-C510-DD12BCF75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62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4768-37FC-D285-55D8-77DBA2269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0BDC3-5E4A-2388-1B56-0E1F98A8A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98C24-8664-22DF-3C73-8D70C0D02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F7F9B-8199-125D-302A-35E8B6564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3FE12-2E39-414B-05FA-20F65BECB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04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52406-7923-104B-A610-238069C6E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259A6-21DB-948A-603B-5005E1FAB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CAD71A-A019-7943-833D-85B4AEDB7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B1FEFD-6740-8B71-4BF9-46620A262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1AA1A-546E-5839-A80B-4479FE64B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E1CA2-B4D4-C918-6069-DEA288BB7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02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25CAC-1963-4B39-4210-B6CA1997F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270F5-5F49-D61A-D196-48DD13D53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22F1B4-2474-C3CF-2219-681D197A27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E7DBE8-D976-A667-DC4F-CDD40FD562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A418C9-0B10-3E1B-7DB2-BF8CAE5F91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BE06CC-C048-2307-A2FD-0263ECC1E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FA94EE-C0DA-8615-A082-23A7222C2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D8A5F0-6285-A340-5BD9-AFFB8EF2D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15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B44CF-2B82-2B50-1F08-539A8E061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9CF33D-CAB5-BECE-BB82-A0DB97313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AB4C27-ADAC-CCE4-ACB8-7089FB24A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FC137-AA0B-B423-E8C3-619790521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5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1F7FB2-475A-16E8-4E99-8EC974149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6F9D7-CEF8-4239-5B0B-9AAEA695C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387D7-6D36-3920-E1F2-0CBE2A522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74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05BD0-2497-4D0A-7CFB-127A69513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C5666-DB8D-9D2B-7CB6-C32FA15EA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C508A5-69B2-E44B-4642-9E774E269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7F27B-D2BF-1241-E507-0F59F871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8FE7E2-2D0A-640C-B341-957D6603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76C62-F92E-1015-8573-696B59BB5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452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6D51B-DB9A-EEE3-F0AC-69C2E8AD0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FE4BBB-83B3-4239-B595-D865D2664F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EEB395-30C0-3461-358A-0ED6D926C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98D405-D3BA-DD42-296E-8795A2218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9089F-166D-810A-81E3-8AB2F30A2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1C0563-13F5-C4F5-F320-2502F3FA2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12730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BF8DC-A407-1210-E464-B3CEA4136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58D2A2-EBB2-E319-DDF2-0828C1CDD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62C49-1763-F656-F8A5-73ADA188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A0353-CBE5-E3E6-1983-C50F19FDC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293DA-E7F5-89E2-CBCB-E754B4262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045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156F67-207C-1BA4-3BCD-85D8789B81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6A543C-23A8-33C0-9514-EA0A4BEC45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F215D-633B-E455-2975-851D48F25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13104B-AF2B-CBFE-E268-097E24D5D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61EEA-14BA-AB95-6AA3-BBC5269AE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0771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800"/>
              <a:buFont typeface="Century Gothic"/>
              <a:buNone/>
              <a:defRPr sz="4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"/>
          <p:cNvSpPr txBox="1">
            <a:spLocks noGrp="1"/>
          </p:cNvSpPr>
          <p:nvPr>
            <p:ph type="body" idx="1"/>
          </p:nvPr>
        </p:nvSpPr>
        <p:spPr>
          <a:xfrm>
            <a:off x="2589213" y="5181600"/>
            <a:ext cx="8915400" cy="729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800"/>
              <a:buNone/>
              <a:defRPr>
                <a:solidFill>
                  <a:srgbClr val="595959"/>
                </a:solidFill>
              </a:defRPr>
            </a:lvl1pPr>
            <a:lvl2pPr marL="914400" lvl="1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2pPr>
            <a:lvl3pPr marL="1371600" lvl="2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3pPr>
            <a:lvl4pPr marL="1828800" lvl="3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4pPr>
            <a:lvl5pPr marL="2286000" lvl="4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5pPr>
            <a:lvl6pPr marL="2743200" lvl="5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6pPr>
            <a:lvl7pPr marL="3200400" lvl="6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7pPr>
            <a:lvl8pPr marL="3657600" lvl="7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8pPr>
            <a:lvl9pPr marL="4114800" lvl="8" indent="-342900" algn="l">
              <a:spcBef>
                <a:spcPts val="1000"/>
              </a:spcBef>
              <a:spcAft>
                <a:spcPts val="0"/>
              </a:spcAft>
              <a:buSzPts val="1800"/>
              <a:buChar char="🠶"/>
              <a:defRPr/>
            </a:lvl9pPr>
          </a:lstStyle>
          <a:p>
            <a:endParaRPr/>
          </a:p>
        </p:txBody>
      </p:sp>
      <p:sp>
        <p:nvSpPr>
          <p:cNvPr id="45" name="Google Shape;45;p2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31222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1_Picture with Ca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"/>
          <p:cNvSpPr>
            <a:spLocks noGrp="1"/>
          </p:cNvSpPr>
          <p:nvPr>
            <p:ph type="pic" idx="2"/>
          </p:nvPr>
        </p:nvSpPr>
        <p:spPr>
          <a:xfrm>
            <a:off x="2589212" y="634965"/>
            <a:ext cx="8915400" cy="385497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3"/>
          <p:cNvSpPr txBox="1">
            <a:spLocks noGrp="1"/>
          </p:cNvSpPr>
          <p:nvPr>
            <p:ph type="body" idx="1"/>
          </p:nvPr>
        </p:nvSpPr>
        <p:spPr>
          <a:xfrm>
            <a:off x="2589213" y="5367338"/>
            <a:ext cx="8915400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3" name="Google Shape;53;p3"/>
          <p:cNvSpPr txBox="1">
            <a:spLocks noGrp="1"/>
          </p:cNvSpPr>
          <p:nvPr>
            <p:ph type="dt" idx="10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"/>
          <p:cNvSpPr txBox="1">
            <a:spLocks noGrp="1"/>
          </p:cNvSpPr>
          <p:nvPr>
            <p:ph type="ftr" idx="11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"/>
          <p:cNvSpPr txBox="1">
            <a:spLocks noGrp="1"/>
          </p:cNvSpPr>
          <p:nvPr>
            <p:ph type="sldNum" idx="12"/>
          </p:nvPr>
        </p:nvSpPr>
        <p:spPr>
          <a:xfrm>
            <a:off x="531812" y="4983087"/>
            <a:ext cx="7797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9395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pixabay.com/en/sky-panorama-field-grass-nature-3122143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alphaModFix amt="50000"/>
            <a:lum/>
            <a:extLst>
              <a:ext uri="{837473B0-CC2E-450A-ABE3-18F120FF3D39}">
                <a1611:picAttrSrcUrl xmlns:a1611="http://schemas.microsoft.com/office/drawing/2016/11/main" r:id="rId16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D62D72-FC6C-8B55-A46F-61B86C421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C9A45-3DDE-47A7-5E58-FE3346A08F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254C9-1FDF-CB1E-BCF3-0341829C79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482D1-A890-63B1-36E5-1E7DD2D01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C2995-290F-DF62-4DE3-0C8355F2E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82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americanheritageinsure.com/thank-you/" TargetMode="External"/><Relationship Id="rId5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2680569" y="526093"/>
            <a:ext cx="6361831" cy="1877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Shree Chanakya Education Society’s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Indira College of Commerce &amp; Science, Wakad, Pune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5031979" y="2403530"/>
            <a:ext cx="26516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79232" y="2924886"/>
            <a:ext cx="1001246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chemeClr val="dk1"/>
                </a:solidFill>
                <a:latin typeface="Corsiva"/>
                <a:ea typeface="Corsiva"/>
                <a:cs typeface="Corsiva"/>
                <a:sym typeface="Corsiva"/>
              </a:rPr>
              <a:t>“</a:t>
            </a:r>
            <a:r>
              <a:rPr lang="en-US" sz="5400" dirty="0">
                <a:solidFill>
                  <a:schemeClr val="dk1"/>
                </a:solidFill>
                <a:latin typeface="Times New Roman" panose="02020603050405020304" pitchFamily="18" charset="0"/>
                <a:ea typeface="Corsiva"/>
                <a:cs typeface="Times New Roman" panose="02020603050405020304" pitchFamily="18" charset="0"/>
                <a:sym typeface="Corsiva"/>
              </a:rPr>
              <a:t>Crop Yield Prediction using ML</a:t>
            </a:r>
            <a:r>
              <a:rPr lang="en-US" sz="5400" dirty="0">
                <a:solidFill>
                  <a:schemeClr val="dk1"/>
                </a:solidFill>
                <a:latin typeface="Corsiva"/>
                <a:ea typeface="Corsiva"/>
                <a:cs typeface="Corsiva"/>
                <a:sym typeface="Corsiva"/>
              </a:rPr>
              <a:t>”</a:t>
            </a:r>
            <a:endParaRPr dirty="0"/>
          </a:p>
        </p:txBody>
      </p:sp>
      <p:sp>
        <p:nvSpPr>
          <p:cNvPr id="172" name="Google Shape;172;p18"/>
          <p:cNvSpPr txBox="1"/>
          <p:nvPr/>
        </p:nvSpPr>
        <p:spPr>
          <a:xfrm>
            <a:off x="8414238" y="4048229"/>
            <a:ext cx="2797927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Ajinkya Galande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Ashutosh Nikam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Prashant Maske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Om Kumbhar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M.Sc.(CS)-II </a:t>
            </a:r>
            <a:endParaRPr dirty="0"/>
          </a:p>
        </p:txBody>
      </p:sp>
      <p:pic>
        <p:nvPicPr>
          <p:cNvPr id="173" name="Google Shape;17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85458" y="292222"/>
            <a:ext cx="2539683" cy="19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1812" y="292222"/>
            <a:ext cx="1874913" cy="1874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4661715" y="699082"/>
            <a:ext cx="3013407" cy="64629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  Introduction</a:t>
            </a:r>
            <a:endParaRPr sz="36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2053104" y="2305820"/>
            <a:ext cx="8937281" cy="3046948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Agriculture plays a vital role in ensuring food security, yet crop yields are often uncertain due to changing environmental and management factors.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This study focuses on predicting crop yields using data-driven approaches to enhance accuracy and support informed decision-making in agriculture.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3" name="Google Shape;18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4122" y="259466"/>
            <a:ext cx="1874913" cy="1874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3807069" y="474111"/>
            <a:ext cx="5068978" cy="646331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 Objectives of the Study</a:t>
            </a:r>
            <a:endParaRPr sz="3600" b="1" u="sng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2406725" y="1982725"/>
            <a:ext cx="9395002" cy="4401164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Primary Objectives: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Identify key factors influencing Crop Yield (e.g., Season, Area in hectares, Production in tons).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Compare the performance of different ML models (e.g., Linear Regression, Random Forest, Decision Tree).</a:t>
            </a:r>
            <a:endParaRPr sz="2800" dirty="0">
              <a:solidFill>
                <a:schemeClr val="dk1"/>
              </a:solidFill>
              <a:latin typeface="Times New Roman" panose="02020603050405020304" pitchFamily="18" charset="0"/>
              <a:ea typeface="Century Gothic"/>
              <a:cs typeface="Times New Roman" panose="02020603050405020304" pitchFamily="18" charset="0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Secondary Objectives: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Explore the impact of feature selection and engineering on prediction accuracy.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marR="0" lvl="0" indent="-51435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Develop a predictive model that can be applied to real-world data.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1" name="Google Shape;201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812" y="292222"/>
            <a:ext cx="1874913" cy="1874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3231954" y="390243"/>
            <a:ext cx="7960653" cy="64629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and Software Requirements</a:t>
            </a:r>
            <a:endParaRPr b="1" dirty="0"/>
          </a:p>
        </p:txBody>
      </p:sp>
      <p:sp>
        <p:nvSpPr>
          <p:cNvPr id="209" name="Google Shape;209;p22"/>
          <p:cNvSpPr txBox="1"/>
          <p:nvPr/>
        </p:nvSpPr>
        <p:spPr>
          <a:xfrm>
            <a:off x="3131369" y="1636776"/>
            <a:ext cx="7585399" cy="5016718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Operating Environment – Hardware and Software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Hardware Requirements: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Processor: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Intel Core i5 or i7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RAM: Minimum 8 GB 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Storage: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Minimum 50 GB of free disk space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Software Requirements: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R Studio: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Version: 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2023.06 or later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Libraries: 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caret, ggplot2,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R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and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o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m Forest, e1071, FNN, dplyr</a:t>
            </a:r>
            <a:endParaRPr sz="20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entury Gothic"/>
              <a:cs typeface="Times New Roman" panose="02020603050405020304" pitchFamily="18" charset="0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Python: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Version: 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Python 3.10 or later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Libraries: 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pandas, NumPy, scikit-learn, matplotlib, seaborn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Power BI: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Version: </a:t>
            </a:r>
            <a:r>
              <a:rPr lang="en-US" sz="200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Power BI Desktop 2.138.782.0</a:t>
            </a:r>
            <a:endParaRPr sz="200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entury Gothic"/>
              <a:cs typeface="Times New Roman" panose="02020603050405020304" pitchFamily="18" charset="0"/>
              <a:sym typeface="Century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Operating System: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Windows 10/11 (64-bit)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0" name="Google Shape;210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812" y="292222"/>
            <a:ext cx="1874913" cy="1874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16" name="Google Shape;216;p23"/>
          <p:cNvSpPr txBox="1"/>
          <p:nvPr/>
        </p:nvSpPr>
        <p:spPr>
          <a:xfrm>
            <a:off x="3814050" y="430906"/>
            <a:ext cx="5073918" cy="646331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Significance of the Study</a:t>
            </a:r>
            <a:endParaRPr sz="3600" b="1" u="sng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2417524" y="2167135"/>
            <a:ext cx="9242664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Market Impact: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Accurate predictions can help farmers to choose the crop based on the season and area from which they can gain a higher yield.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Times New Roman" panose="02020603050405020304" pitchFamily="18" charset="0"/>
              <a:ea typeface="Century Gothic"/>
              <a:cs typeface="Times New Roman" panose="02020603050405020304" pitchFamily="18" charset="0"/>
              <a:sym typeface="Century Gothic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Application in Real Estate: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Helps pesticide shop owners provide better and concise services.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Assists buyers and sellers in making informed decisions.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Times New Roman" panose="02020603050405020304" pitchFamily="18" charset="0"/>
              <a:ea typeface="Century Gothic"/>
              <a:cs typeface="Times New Roman" panose="02020603050405020304" pitchFamily="18" charset="0"/>
              <a:sym typeface="Century Gothic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Socioeconomic Relevance: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Contributes to equitable pricing strategies for pesticides, benefiting both farmers and shopkeepers.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dk1"/>
              </a:solidFill>
              <a:latin typeface="Times New Roman" panose="02020603050405020304" pitchFamily="18" charset="0"/>
              <a:ea typeface="Century Gothic"/>
              <a:cs typeface="Times New Roman" panose="02020603050405020304" pitchFamily="18" charset="0"/>
              <a:sym typeface="Century Gothic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2325925" y="222862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0" name="Google Shape;220;p23"/>
          <p:cNvSpPr/>
          <p:nvPr/>
        </p:nvSpPr>
        <p:spPr>
          <a:xfrm>
            <a:off x="2325925" y="680062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2325925" y="680062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</a:t>
            </a:r>
            <a:endParaRPr sz="11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812" y="292222"/>
            <a:ext cx="1874913" cy="1874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28" name="Google Shape;228;p24"/>
          <p:cNvSpPr txBox="1"/>
          <p:nvPr/>
        </p:nvSpPr>
        <p:spPr>
          <a:xfrm>
            <a:off x="4108570" y="373797"/>
            <a:ext cx="5190877" cy="64629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   Research Requirements</a:t>
            </a:r>
            <a:endParaRPr sz="3600" b="1" u="sng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2594483" y="1555367"/>
            <a:ext cx="8154000" cy="4402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Dataset</a:t>
            </a:r>
            <a:r>
              <a:rPr lang="en-US" sz="2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The Yield dataset (Maha_Agri.csv) sourced from Kaggle, containing features like Crop, Season, Area, Production, and the target variable Yield.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Tools</a:t>
            </a:r>
            <a:r>
              <a:rPr lang="en-US" sz="2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sz="1600"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Statistical and machine learning tools for analysis and modeling.</a:t>
            </a:r>
            <a:endParaRPr sz="1600"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Visualization tools for dynamic and static representation of results.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Knowledge Base</a:t>
            </a:r>
            <a:r>
              <a:rPr lang="en-US" sz="2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sz="1600"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Proficiency in machine learning algorithms.</a:t>
            </a:r>
            <a:endParaRPr sz="1600"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Understanding of statistical analysis and data preprocessing techniques.</a:t>
            </a:r>
            <a:endParaRPr sz="16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Metrics</a:t>
            </a:r>
            <a:r>
              <a:rPr lang="en-US" sz="2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Use of Mean Squared Error (MSE) and R-squared (R²) to evaluate model performance.</a:t>
            </a:r>
            <a:endParaRPr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231" name="Google Shape;231;p24"/>
          <p:cNvCxnSpPr/>
          <p:nvPr/>
        </p:nvCxnSpPr>
        <p:spPr>
          <a:xfrm>
            <a:off x="5514710" y="7106468"/>
            <a:ext cx="314325" cy="16192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4"/>
          <p:cNvCxnSpPr/>
          <p:nvPr/>
        </p:nvCxnSpPr>
        <p:spPr>
          <a:xfrm flipH="1">
            <a:off x="5514710" y="7106468"/>
            <a:ext cx="247650" cy="219075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24"/>
          <p:cNvCxnSpPr/>
          <p:nvPr/>
        </p:nvCxnSpPr>
        <p:spPr>
          <a:xfrm>
            <a:off x="5667110" y="6632123"/>
            <a:ext cx="0" cy="142875"/>
          </a:xfrm>
          <a:prstGeom prst="straightConnector1">
            <a:avLst/>
          </a:pr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4" name="Google Shape;234;p24"/>
          <p:cNvCxnSpPr/>
          <p:nvPr/>
        </p:nvCxnSpPr>
        <p:spPr>
          <a:xfrm>
            <a:off x="5667110" y="6879773"/>
            <a:ext cx="0" cy="104775"/>
          </a:xfrm>
          <a:prstGeom prst="straightConnector1">
            <a:avLst/>
          </a:pr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5" name="Google Shape;235;p24"/>
          <p:cNvCxnSpPr/>
          <p:nvPr/>
        </p:nvCxnSpPr>
        <p:spPr>
          <a:xfrm>
            <a:off x="5667110" y="7051223"/>
            <a:ext cx="0" cy="104775"/>
          </a:xfrm>
          <a:prstGeom prst="straightConnector1">
            <a:avLst/>
          </a:prstGeom>
          <a:noFill/>
          <a:ln w="9525" cap="rnd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6" name="Google Shape;236;p24"/>
          <p:cNvSpPr/>
          <p:nvPr/>
        </p:nvSpPr>
        <p:spPr>
          <a:xfrm>
            <a:off x="3984178" y="-352699"/>
            <a:ext cx="12192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7" name="Google Shape;237;p24"/>
          <p:cNvSpPr/>
          <p:nvPr/>
        </p:nvSpPr>
        <p:spPr>
          <a:xfrm>
            <a:off x="3984178" y="104501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3984178" y="-164803"/>
            <a:ext cx="248786" cy="5386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100" b="0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9" name="Google Shape;23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812" y="373797"/>
            <a:ext cx="1874913" cy="1874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4281102" y="292222"/>
            <a:ext cx="4596130" cy="646331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Review of Literature</a:t>
            </a:r>
            <a:endParaRPr sz="3600" b="1" dirty="0">
              <a:solidFill>
                <a:schemeClr val="dk1"/>
              </a:solidFill>
              <a:latin typeface="Times New Roman" panose="02020603050405020304" pitchFamily="18" charset="0"/>
              <a:ea typeface="Century Gothic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2488222" y="1229678"/>
            <a:ext cx="9495693" cy="473971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  <a:sym typeface="Century Gothic"/>
              </a:rPr>
              <a:t>Existing Studies:</a:t>
            </a:r>
          </a:p>
          <a:p>
            <a:pPr marL="457200" marR="0" lvl="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</a:rPr>
              <a:t>Tree-based models(Random Forest, XGBoost) give high accuracy and explain key factors.</a:t>
            </a:r>
          </a:p>
          <a:p>
            <a:pPr marL="457200" marR="0" lvl="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</a:rPr>
              <a:t>Deep learning models(CLSTMT, GRNN) reach very high performance across crops.</a:t>
            </a:r>
          </a:p>
          <a:p>
            <a:pPr marL="457200" marR="0" lvl="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</a:rPr>
              <a:t>Review studies show Random Forest, CNN and LSTM are the most common algorithms that provide high accuracy.</a:t>
            </a:r>
          </a:p>
          <a:p>
            <a:pPr marL="457200" marR="0" lvl="0" indent="-4572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entury Gothic"/>
                <a:cs typeface="Times New Roman" panose="02020603050405020304" pitchFamily="18" charset="0"/>
              </a:rPr>
              <a:t>They also highlight the importance of good data(like soil, climate and satellite indices) and suggest combining methods to get even better results.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ea typeface="Century Gothic"/>
              <a:cs typeface="Times New Roman" panose="02020603050405020304" pitchFamily="18" charset="0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812" y="292222"/>
            <a:ext cx="1874913" cy="1874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 txBox="1">
            <a:spLocks noGrp="1"/>
          </p:cNvSpPr>
          <p:nvPr>
            <p:ph type="title"/>
          </p:nvPr>
        </p:nvSpPr>
        <p:spPr>
          <a:xfrm>
            <a:off x="2891693" y="275193"/>
            <a:ext cx="7008445" cy="790683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entury Gothic"/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" name="Google Shape;245;p25"/>
          <p:cNvSpPr txBox="1">
            <a:spLocks noGrp="1"/>
          </p:cNvSpPr>
          <p:nvPr>
            <p:ph idx="1"/>
          </p:nvPr>
        </p:nvSpPr>
        <p:spPr>
          <a:xfrm>
            <a:off x="1916723" y="1204545"/>
            <a:ext cx="9609992" cy="537826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237172" algn="l" rtl="0"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50058" algn="l" rtl="0">
              <a:spcBef>
                <a:spcPts val="10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Characteristics:</a:t>
            </a:r>
          </a:p>
          <a:p>
            <a:pPr marL="902479" lvl="1" indent="-457200">
              <a:spcBef>
                <a:spcPts val="100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Features: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(combination of numerical and categorical variables).</a:t>
            </a:r>
          </a:p>
          <a:p>
            <a:pPr marL="902479" lvl="1" indent="-457200">
              <a:spcBef>
                <a:spcPts val="1000"/>
              </a:spcBef>
              <a:buSzPct val="100000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Yield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52500" lvl="1" indent="-457200">
              <a:spcBef>
                <a:spcPts val="1000"/>
              </a:spcBef>
              <a:buSzPct val="52766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District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Crop, Area, Production, and Season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SzPct val="100000"/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pPr marL="742950" lvl="1" indent="-297671">
              <a:spcBef>
                <a:spcPts val="1000"/>
              </a:spcBef>
              <a:buSzPct val="100000"/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 histograms to visualize the distribution of key features such as:</a:t>
            </a:r>
          </a:p>
          <a:p>
            <a:pPr lvl="2" indent="-245283">
              <a:spcBef>
                <a:spcPts val="1000"/>
              </a:spcBef>
              <a:buSzPct val="100000"/>
              <a:buFont typeface="Arial"/>
              <a:buChar char="•"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Yield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Showed a positively skewed distribution, indicating that a Higher Yield is less frequent.</a:t>
            </a:r>
          </a:p>
          <a:p>
            <a:pPr marL="742950" lvl="1" indent="-297671">
              <a:spcBef>
                <a:spcPts val="1000"/>
              </a:spcBef>
              <a:buSzPct val="100000"/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 plotted bar graphs to see the count of crops based on all the Districts of Maharashtra.</a:t>
            </a:r>
          </a:p>
          <a:p>
            <a:pPr marL="495300" lvl="1" indent="0" algn="l" rtl="0">
              <a:spcBef>
                <a:spcPts val="1000"/>
              </a:spcBef>
              <a:spcAft>
                <a:spcPts val="0"/>
              </a:spcAft>
              <a:buSzPct val="52766"/>
              <a:buNone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237172" algn="l" rtl="0">
              <a:spcBef>
                <a:spcPts val="1000"/>
              </a:spcBef>
              <a:spcAft>
                <a:spcPts val="0"/>
              </a:spcAft>
              <a:buSzPct val="100000"/>
              <a:buNone/>
            </a:pP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6" name="Google Shape;246;p2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" name="Google Shape;239;p24">
            <a:extLst>
              <a:ext uri="{FF2B5EF4-FFF2-40B4-BE49-F238E27FC236}">
                <a16:creationId xmlns:a16="http://schemas.microsoft.com/office/drawing/2014/main" id="{64A50806-208B-2D7F-5291-2FF9548BB0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913" y="117619"/>
            <a:ext cx="1534380" cy="1640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 txBox="1">
            <a:spLocks noGrp="1"/>
          </p:cNvSpPr>
          <p:nvPr>
            <p:ph idx="1"/>
          </p:nvPr>
        </p:nvSpPr>
        <p:spPr>
          <a:xfrm>
            <a:off x="0" y="1538654"/>
            <a:ext cx="4580793" cy="4706798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Evaluated Models</a:t>
            </a:r>
            <a:endParaRPr sz="20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Century Gothic"/>
              <a:buAutoNum type="arabicPeriod"/>
            </a:pPr>
            <a:r>
              <a:rPr 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Regression.</a:t>
            </a:r>
            <a:endParaRPr sz="20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Century Gothic"/>
              <a:buAutoNum type="arabicPeriod"/>
            </a:pPr>
            <a:r>
              <a:rPr 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Forest.</a:t>
            </a:r>
            <a:endParaRPr sz="20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Century Gothic"/>
              <a:buAutoNum type="arabicPeriod"/>
            </a:pPr>
            <a:r>
              <a:rPr 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K-Nearest Neighbors (KNN).</a:t>
            </a:r>
            <a:endParaRPr sz="20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Century Gothic"/>
              <a:buAutoNum type="arabicPeriod"/>
            </a:pPr>
            <a:r>
              <a:rPr 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Tree.</a:t>
            </a:r>
            <a:endParaRPr sz="20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Century Gothic"/>
              <a:buAutoNum type="arabicPeriod"/>
            </a:pPr>
            <a:r>
              <a:rPr lang="en-I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 Regressor.</a:t>
            </a:r>
          </a:p>
          <a:p>
            <a:pPr marL="3429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Font typeface="Century Gothic"/>
              <a:buAutoNum type="arabicPeriod"/>
            </a:pPr>
            <a:r>
              <a:rPr lang="en-IN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AdaBoost Regressor.</a:t>
            </a:r>
            <a:endParaRPr lang="en-US" sz="20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SzPts val="2000"/>
              <a:buNone/>
            </a:pPr>
            <a:r>
              <a:rPr 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 Model</a:t>
            </a:r>
            <a:endParaRPr sz="20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fontAlgn="base" latinLnBrk="1">
              <a:buNone/>
            </a:pPr>
            <a:r>
              <a:rPr lang="en-US" sz="2000" b="1" u="sng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Regressor</a:t>
            </a:r>
          </a:p>
          <a:p>
            <a:pPr marL="0" indent="0" fontAlgn="base" latinLnBrk="1">
              <a:buNone/>
            </a:pPr>
            <a:r>
              <a:rPr lang="en-US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 Mean Squared Error:</a:t>
            </a:r>
            <a:r>
              <a:rPr lang="en-US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0.1850</a:t>
            </a:r>
          </a:p>
          <a:p>
            <a:pPr marL="0" indent="0" fontAlgn="base" latinLnBrk="1">
              <a:buNone/>
            </a:pPr>
            <a:r>
              <a:rPr lang="en-US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 Absolute Error: 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0.0878</a:t>
            </a:r>
          </a:p>
          <a:p>
            <a:pPr marL="0" indent="0" fontAlgn="base" latinLnBrk="1">
              <a:buNone/>
            </a:pPr>
            <a:r>
              <a:rPr lang="en-US" sz="20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R2 Score: </a:t>
            </a: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0.9554</a:t>
            </a:r>
          </a:p>
          <a:p>
            <a:pPr marL="342900" lvl="0" indent="-228600" algn="l" rtl="0"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000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2" name="Google Shape;252;p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" name="Google Shape;244;p25">
            <a:extLst>
              <a:ext uri="{FF2B5EF4-FFF2-40B4-BE49-F238E27FC236}">
                <a16:creationId xmlns:a16="http://schemas.microsoft.com/office/drawing/2014/main" id="{764D60B8-DF56-7B3A-E732-CCBAA052EF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46685" y="153990"/>
            <a:ext cx="4079629" cy="757736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Century Gothic"/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Model Evaluation</a:t>
            </a: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249F0DE-7FBE-27EC-DF14-067C7D9D75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7972725"/>
              </p:ext>
            </p:extLst>
          </p:nvPr>
        </p:nvGraphicFramePr>
        <p:xfrm>
          <a:off x="4686300" y="1161150"/>
          <a:ext cx="7505699" cy="512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Google Shape;239;p24">
            <a:extLst>
              <a:ext uri="{FF2B5EF4-FFF2-40B4-BE49-F238E27FC236}">
                <a16:creationId xmlns:a16="http://schemas.microsoft.com/office/drawing/2014/main" id="{0D12893F-D979-09AF-49BD-3F55B53A720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5581" y="153990"/>
            <a:ext cx="1402496" cy="1243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7"/>
          <p:cNvSpPr txBox="1">
            <a:spLocks noGrp="1"/>
          </p:cNvSpPr>
          <p:nvPr>
            <p:ph type="title"/>
          </p:nvPr>
        </p:nvSpPr>
        <p:spPr>
          <a:xfrm>
            <a:off x="4434254" y="298939"/>
            <a:ext cx="2916115" cy="757878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Python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" name="Google Shape;258;p2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98894A4-09B6-D331-B2DF-93D94C2520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 flipV="1">
            <a:off x="219809" y="1573823"/>
            <a:ext cx="7200900" cy="4985238"/>
          </a:xfrm>
          <a:prstGeom prst="rect">
            <a:avLst/>
          </a:prstGeom>
          <a:ln>
            <a:solidFill>
              <a:sysClr val="windowText" lastClr="000000"/>
            </a:solidFill>
          </a:ln>
        </p:spPr>
      </p:pic>
      <p:pic>
        <p:nvPicPr>
          <p:cNvPr id="6" name="Google Shape;296;p32">
            <a:extLst>
              <a:ext uri="{FF2B5EF4-FFF2-40B4-BE49-F238E27FC236}">
                <a16:creationId xmlns:a16="http://schemas.microsoft.com/office/drawing/2014/main" id="{A5997E90-A8AA-F924-F21E-C5711BD71DC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366" y="0"/>
            <a:ext cx="1270611" cy="142227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EDB644-92D0-4168-7096-7D812E178EA0}"/>
              </a:ext>
            </a:extLst>
          </p:cNvPr>
          <p:cNvSpPr txBox="1"/>
          <p:nvPr/>
        </p:nvSpPr>
        <p:spPr>
          <a:xfrm>
            <a:off x="7728438" y="2039815"/>
            <a:ext cx="4243754" cy="313932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my Final Regression plot for my data with Specified Changes(removed values from area &amp; production where value was less than 50).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best fit line covers most of the data points from my data ensuring a good fit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9"/>
          <p:cNvSpPr txBox="1">
            <a:spLocks noGrp="1"/>
          </p:cNvSpPr>
          <p:nvPr>
            <p:ph type="title"/>
          </p:nvPr>
        </p:nvSpPr>
        <p:spPr>
          <a:xfrm>
            <a:off x="3722076" y="229982"/>
            <a:ext cx="3329354" cy="64599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600"/>
              <a:buFont typeface="Century Gothic"/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Power BI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2" name="Google Shape;272;p2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75DA61-D105-7C48-8B98-CFBF6BC15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74" y="1691381"/>
            <a:ext cx="6655453" cy="4936637"/>
          </a:xfrm>
          <a:prstGeom prst="rect">
            <a:avLst/>
          </a:prstGeom>
        </p:spPr>
      </p:pic>
      <p:pic>
        <p:nvPicPr>
          <p:cNvPr id="7" name="Google Shape;296;p32">
            <a:extLst>
              <a:ext uri="{FF2B5EF4-FFF2-40B4-BE49-F238E27FC236}">
                <a16:creationId xmlns:a16="http://schemas.microsoft.com/office/drawing/2014/main" id="{F51DB4AF-4587-3878-761D-1D1609AEACF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5290" y="63622"/>
            <a:ext cx="1428872" cy="136952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93D519-D330-C4B5-2DB0-7B0003E2DBAF}"/>
              </a:ext>
            </a:extLst>
          </p:cNvPr>
          <p:cNvSpPr txBox="1"/>
          <p:nvPr/>
        </p:nvSpPr>
        <p:spPr>
          <a:xfrm>
            <a:off x="7148145" y="2233246"/>
            <a:ext cx="4659924" cy="258532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plot shows all the models with their respective evaluation metrics like – Mean Squared Error, Mean Absolute Error and R2 Score.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Random Forest Regressor Algorithm gave me the highest accuracy for my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Accuracy given by the Model is – 96%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 txBox="1">
            <a:spLocks noGrp="1"/>
          </p:cNvSpPr>
          <p:nvPr>
            <p:ph type="title"/>
          </p:nvPr>
        </p:nvSpPr>
        <p:spPr>
          <a:xfrm>
            <a:off x="3859823" y="272460"/>
            <a:ext cx="4472354" cy="857006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Future Enhancements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1" name="Google Shape;281;p3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46C3752-4A22-8B40-069C-8867C4308D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52952" y="1464399"/>
            <a:ext cx="9961686" cy="497572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IN" sz="2000" b="1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 Key Focus Areas -  </a:t>
            </a:r>
          </a:p>
          <a:p>
            <a:r>
              <a:rPr lang="en-IN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Remote Sensing &amp; IoT </a:t>
            </a:r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– Use satellite imagery and sensor data for real-time crop monitoring.</a:t>
            </a:r>
          </a:p>
          <a:p>
            <a:r>
              <a:rPr lang="en-IN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Climate Resilience </a:t>
            </a:r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– Incorporate climate change scenarios for robust predictions.</a:t>
            </a:r>
          </a:p>
          <a:p>
            <a:r>
              <a:rPr lang="en-IN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Advanced Models </a:t>
            </a:r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– Explore hybrid deep learning (LSTM, CNN, Transformers) for higher accuracy.</a:t>
            </a:r>
          </a:p>
          <a:p>
            <a:r>
              <a:rPr lang="en-IN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Soil &amp; Nutrient Profiling </a:t>
            </a:r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– Add fertility and nutrient data for crop-specific forecasts.</a:t>
            </a:r>
          </a:p>
          <a:p>
            <a:r>
              <a:rPr lang="en-IN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Decision Support System </a:t>
            </a:r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– Build farmer-friendly mobile/web tools for yield guidance.</a:t>
            </a:r>
          </a:p>
          <a:p>
            <a:pPr marL="0" indent="0">
              <a:buNone/>
            </a:pPr>
            <a:r>
              <a:rPr lang="en-IN" sz="2000" b="1" u="sng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Additional Directions - </a:t>
            </a:r>
          </a:p>
          <a:p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Apply Explainable AI (XAI) for transparency &amp; adoption.</a:t>
            </a:r>
          </a:p>
          <a:p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Scale across regions and multiple crops.</a:t>
            </a:r>
          </a:p>
          <a:p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Enable continuous learning with new data.</a:t>
            </a:r>
          </a:p>
          <a:p>
            <a:r>
              <a:rPr lang="en-IN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Link forecasts with policy &amp; market insights.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A43E1A-8168-2648-CA36-5BA5254B3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025" y="62472"/>
            <a:ext cx="1401927" cy="14019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1"/>
          <p:cNvSpPr txBox="1">
            <a:spLocks noGrp="1"/>
          </p:cNvSpPr>
          <p:nvPr>
            <p:ph type="title"/>
          </p:nvPr>
        </p:nvSpPr>
        <p:spPr>
          <a:xfrm>
            <a:off x="4100146" y="327268"/>
            <a:ext cx="2731477" cy="707537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rPr lang="en-US" sz="3600" b="1" i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Conclusion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7" name="Google Shape;287;p31"/>
          <p:cNvSpPr txBox="1">
            <a:spLocks noGrp="1"/>
          </p:cNvSpPr>
          <p:nvPr>
            <p:ph idx="1"/>
          </p:nvPr>
        </p:nvSpPr>
        <p:spPr>
          <a:xfrm>
            <a:off x="838200" y="1412386"/>
            <a:ext cx="10515600" cy="5118345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100" b="1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project successfully demonstrated the use of machine learning techniques to accurately predict crop yield.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 sz="2100" b="1" i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 Regressor was identified as the most effective algorithm due to its  high accuracy and interpretability. Key takeaways include:</a:t>
            </a:r>
            <a:endParaRPr sz="2100" b="0" dirty="0"/>
          </a:p>
          <a:p>
            <a:pPr marL="342900" lvl="0" indent="-36195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 b="1" i="0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 data preprocessing helped in gaining high accura</a:t>
            </a:r>
            <a:r>
              <a:rPr lang="en-US" sz="21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cy,  </a:t>
            </a:r>
            <a:r>
              <a:rPr lang="en-US" sz="2100" b="1" i="0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removed sugarcane records from the data, as the area and production were significantly high compared to other crops.</a:t>
            </a:r>
          </a:p>
          <a:p>
            <a:pPr marL="342900" lvl="0" indent="-36195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IN" sz="2100" b="1" i="0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the final model by keeping sugarcane records, but kept on values greater than 50 in area and production features, which resulted in a high accuracy of 95%.</a:t>
            </a:r>
            <a:endParaRPr sz="2100" b="1" i="0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61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 b="1" i="0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such as </a:t>
            </a:r>
            <a:r>
              <a:rPr lang="en-US" sz="2100" b="1" i="0" strike="noStrike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crop</a:t>
            </a:r>
            <a:r>
              <a:rPr lang="en-US" sz="2100" b="1" i="0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100" b="1" dirty="0">
                <a:solidFill>
                  <a:srgbClr val="188038"/>
                </a:solidFill>
                <a:latin typeface="Roboto Mono"/>
                <a:ea typeface="Roboto Mono"/>
                <a:cs typeface="Times New Roman"/>
                <a:sym typeface="Roboto Mono"/>
              </a:rPr>
              <a:t>season</a:t>
            </a:r>
            <a:r>
              <a:rPr lang="en-US" sz="2100" b="1" i="0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100" b="1" dirty="0">
                <a:solidFill>
                  <a:srgbClr val="188038"/>
                </a:solidFill>
                <a:latin typeface="Roboto Mono"/>
                <a:ea typeface="Roboto Mono"/>
                <a:cs typeface="Times New Roman"/>
                <a:sym typeface="Roboto Mono"/>
              </a:rPr>
              <a:t>area, and production </a:t>
            </a:r>
            <a:r>
              <a:rPr lang="en-US" sz="2100" b="1" i="0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were the most influential in determining </a:t>
            </a:r>
            <a:r>
              <a:rPr lang="en-US" sz="2100" b="1" dirty="0">
                <a:solidFill>
                  <a:srgbClr val="188038"/>
                </a:solidFill>
                <a:latin typeface="Roboto Mono"/>
                <a:ea typeface="Roboto Mono"/>
                <a:cs typeface="Times New Roman"/>
                <a:sym typeface="Times New Roman"/>
              </a:rPr>
              <a:t>crop yield</a:t>
            </a:r>
            <a:r>
              <a:rPr lang="en-US" sz="2100" b="1" i="0" strike="noStrik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100" b="1" i="0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61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-US" sz="21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Also checked the Model performance on different use case scenarios like removing and capping outliers or just keeping the records for the kharif and rabi season.</a:t>
            </a:r>
          </a:p>
          <a:p>
            <a:pPr marL="342900" lvl="0" indent="-361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Arial"/>
              <a:buChar char="•"/>
            </a:pPr>
            <a:endParaRPr lang="en-US" sz="21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61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100"/>
              <a:buFont typeface="Arial"/>
              <a:buChar char="•"/>
            </a:pPr>
            <a:endParaRPr sz="2100" b="1" i="0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228600" algn="l" rtl="0">
              <a:lnSpc>
                <a:spcPct val="90000"/>
              </a:lnSpc>
              <a:spcBef>
                <a:spcPts val="25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88" name="Google Shape;288;p3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2" name="Google Shape;296;p32">
            <a:extLst>
              <a:ext uri="{FF2B5EF4-FFF2-40B4-BE49-F238E27FC236}">
                <a16:creationId xmlns:a16="http://schemas.microsoft.com/office/drawing/2014/main" id="{E7E942B6-48FD-92AA-D2B3-DAC1066DFB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140" y="88593"/>
            <a:ext cx="1376119" cy="1184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95" name="Google Shape;29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85458" y="292222"/>
            <a:ext cx="2539683" cy="1955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1812" y="292222"/>
            <a:ext cx="1874913" cy="18749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26EEBC-2059-E003-CEEB-ECDDD38B871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355012" y="1530499"/>
            <a:ext cx="6030446" cy="45047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</TotalTime>
  <Words>1038</Words>
  <Application>Microsoft Office PowerPoint</Application>
  <PresentationFormat>Widescreen</PresentationFormat>
  <Paragraphs>136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Century Gothic</vt:lpstr>
      <vt:lpstr>Calibri Light</vt:lpstr>
      <vt:lpstr>Times New Roman</vt:lpstr>
      <vt:lpstr>Arial</vt:lpstr>
      <vt:lpstr>Calibri</vt:lpstr>
      <vt:lpstr>Corsiva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Exploratory Data Analysis (EDA) </vt:lpstr>
      <vt:lpstr>  Model Evaluation</vt:lpstr>
      <vt:lpstr>Using Python</vt:lpstr>
      <vt:lpstr>Using Power BI</vt:lpstr>
      <vt:lpstr>Future Enhancements </vt:lpstr>
      <vt:lpstr>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Ajinkya</dc:creator>
  <cp:lastModifiedBy>Ajinkya Galande</cp:lastModifiedBy>
  <cp:revision>12</cp:revision>
  <dcterms:modified xsi:type="dcterms:W3CDTF">2025-10-09T09:08:46Z</dcterms:modified>
</cp:coreProperties>
</file>