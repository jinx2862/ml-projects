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21"/>
  </p:notesMasterIdLst>
  <p:sldIdLst>
    <p:sldId id="296" r:id="rId2"/>
    <p:sldId id="303" r:id="rId3"/>
    <p:sldId id="301" r:id="rId4"/>
    <p:sldId id="292" r:id="rId5"/>
    <p:sldId id="259" r:id="rId6"/>
    <p:sldId id="287" r:id="rId7"/>
    <p:sldId id="289" r:id="rId8"/>
    <p:sldId id="279" r:id="rId9"/>
    <p:sldId id="281" r:id="rId10"/>
    <p:sldId id="282" r:id="rId11"/>
    <p:sldId id="280" r:id="rId12"/>
    <p:sldId id="283" r:id="rId13"/>
    <p:sldId id="286" r:id="rId14"/>
    <p:sldId id="284" r:id="rId15"/>
    <p:sldId id="285" r:id="rId16"/>
    <p:sldId id="291" r:id="rId17"/>
    <p:sldId id="302" r:id="rId18"/>
    <p:sldId id="304" r:id="rId19"/>
    <p:sldId id="30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69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1D5B4-F3AE-46B9-BAC9-4C33C5539F9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BA006-7ECE-4BA9-ACC0-3A04AD5F9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35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BA006-7ECE-4BA9-ACC0-3A04AD5F98C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2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4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7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35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64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42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71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7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56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38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86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4110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50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897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80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2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06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6E0755-DAE8-4B37-96B3-5AD6DCC05620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0A8A0-31BF-4BD6-A6E2-8810357C3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249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5A88E-C983-7699-B38D-8FA3AAC60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5391B-CB36-BCB7-4933-9427626C1F65}"/>
              </a:ext>
            </a:extLst>
          </p:cNvPr>
          <p:cNvSpPr txBox="1"/>
          <p:nvPr/>
        </p:nvSpPr>
        <p:spPr>
          <a:xfrm>
            <a:off x="377687" y="4174435"/>
            <a:ext cx="46018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Team members:</a:t>
            </a: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Mr. </a:t>
            </a:r>
            <a:r>
              <a:rPr lang="en-IN" sz="2000" dirty="0" err="1">
                <a:solidFill>
                  <a:schemeClr val="bg2">
                    <a:lumMod val="75000"/>
                  </a:schemeClr>
                </a:solidFill>
              </a:rPr>
              <a:t>Rutikesh</a:t>
            </a:r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 Hatim</a:t>
            </a: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Mr. Ajinkya </a:t>
            </a:r>
            <a:r>
              <a:rPr lang="en-IN" sz="2000" dirty="0" err="1">
                <a:solidFill>
                  <a:schemeClr val="bg2">
                    <a:lumMod val="75000"/>
                  </a:schemeClr>
                </a:solidFill>
              </a:rPr>
              <a:t>Galande</a:t>
            </a:r>
            <a:endParaRPr lang="en-IN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Ms. Shivani Pawar</a:t>
            </a: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Mr. Laishram Singh</a:t>
            </a: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Mr. Shrikant </a:t>
            </a:r>
            <a:r>
              <a:rPr lang="en-IN" sz="2000" dirty="0" err="1">
                <a:solidFill>
                  <a:schemeClr val="bg2">
                    <a:lumMod val="75000"/>
                  </a:schemeClr>
                </a:solidFill>
              </a:rPr>
              <a:t>Katekar</a:t>
            </a:r>
            <a:endParaRPr lang="en-IN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IN" sz="2000" dirty="0">
                <a:solidFill>
                  <a:schemeClr val="bg2">
                    <a:lumMod val="75000"/>
                  </a:schemeClr>
                </a:solidFill>
              </a:rPr>
              <a:t>- Mr. Pradeep Hedge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3901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9AB450-E45D-0D47-9955-E1571F45211B}"/>
              </a:ext>
            </a:extLst>
          </p:cNvPr>
          <p:cNvSpPr txBox="1"/>
          <p:nvPr/>
        </p:nvSpPr>
        <p:spPr>
          <a:xfrm>
            <a:off x="382531" y="4402903"/>
            <a:ext cx="59408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dentifying trends and the tracking of changes over different periods</a:t>
            </a:r>
            <a:endParaRPr lang="en-US" sz="20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 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to predict future values based on previously observed values.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idely used for non-stationary data, like economic, weather, stock price.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0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E2ABB7-DC95-0B7D-E533-69EFF3552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864" y="1"/>
            <a:ext cx="5486135" cy="3429000"/>
          </a:xfrm>
          <a:prstGeom prst="rect">
            <a:avLst/>
          </a:prstGeom>
        </p:spPr>
      </p:pic>
      <p:pic>
        <p:nvPicPr>
          <p:cNvPr id="7" name="Picture 2" descr="ML Approaches for Time Series. In this post I play around with some… | by  Pablo Ruiz | Towards Data Science">
            <a:extLst>
              <a:ext uri="{FF2B5EF4-FFF2-40B4-BE49-F238E27FC236}">
                <a16:creationId xmlns:a16="http://schemas.microsoft.com/office/drawing/2014/main" id="{2B722D0A-CD2D-C5FA-F21F-6FE335772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864" y="3132944"/>
            <a:ext cx="5486135" cy="372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8338C3-214A-8A1A-BE18-41F009B70C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447" y="1568829"/>
            <a:ext cx="4798868" cy="25234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D19C72D-D460-D361-DC38-C70E628C4C61}"/>
              </a:ext>
            </a:extLst>
          </p:cNvPr>
          <p:cNvSpPr txBox="1">
            <a:spLocks/>
          </p:cNvSpPr>
          <p:nvPr/>
        </p:nvSpPr>
        <p:spPr>
          <a:xfrm>
            <a:off x="0" y="349154"/>
            <a:ext cx="6705864" cy="1014951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800" b="1" dirty="0">
                <a:solidFill>
                  <a:schemeClr val="tx1">
                    <a:lumMod val="75000"/>
                  </a:schemeClr>
                </a:solidFill>
              </a:rPr>
              <a:t>WHAT IS TIME SERIES?</a:t>
            </a:r>
          </a:p>
        </p:txBody>
      </p:sp>
    </p:spTree>
    <p:extLst>
      <p:ext uri="{BB962C8B-B14F-4D97-AF65-F5344CB8AC3E}">
        <p14:creationId xmlns:p14="http://schemas.microsoft.com/office/powerpoint/2010/main" val="213255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8CABC-A8B4-334A-F85A-0E1B4E51E9BF}"/>
              </a:ext>
            </a:extLst>
          </p:cNvPr>
          <p:cNvSpPr txBox="1"/>
          <p:nvPr/>
        </p:nvSpPr>
        <p:spPr>
          <a:xfrm>
            <a:off x="7512397" y="3072347"/>
            <a:ext cx="44007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Forecasting Oil Price based on real time data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 build the best model which gives the maximum performance</a:t>
            </a:r>
            <a:endParaRPr lang="en-US" sz="24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Understanding the pattern in prices to help the customers and businesses to make smart decisions.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dirty="0">
              <a:solidFill>
                <a:srgbClr val="FFFF00"/>
              </a:solidFill>
            </a:endParaRPr>
          </a:p>
        </p:txBody>
      </p:sp>
      <p:pic>
        <p:nvPicPr>
          <p:cNvPr id="4" name="Picture 4" descr="Time Series Forecasting Models: Predicting Future Business Trends">
            <a:extLst>
              <a:ext uri="{FF2B5EF4-FFF2-40B4-BE49-F238E27FC236}">
                <a16:creationId xmlns:a16="http://schemas.microsoft.com/office/drawing/2014/main" id="{499A4EB9-5861-41E8-27D5-7AEE2FF99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496" y="-376488"/>
            <a:ext cx="428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941B62-FC05-D31C-1A4B-F7906A4EA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25336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79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4CA39C-4D69-C5D8-1541-3C21BDF88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29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77519F-025C-358D-C50A-87C86C57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69" y="301043"/>
            <a:ext cx="7356768" cy="943141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PROJECT ARCHITECTURE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4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7A95-B7FA-B9AF-77D1-7E1597B4F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45" y="286053"/>
            <a:ext cx="9404723" cy="1140965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DATASET DETAILS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A6DE1-4B3F-1D2A-75D2-BF266ACDEA47}"/>
              </a:ext>
            </a:extLst>
          </p:cNvPr>
          <p:cNvSpPr txBox="1"/>
          <p:nvPr/>
        </p:nvSpPr>
        <p:spPr>
          <a:xfrm>
            <a:off x="243245" y="5350816"/>
            <a:ext cx="6502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Imported necessary libraries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There are 7 features which are  all of Numerical type.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There are 5796 Rows and 7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C5095-A982-5FDB-8726-1730AB686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8" y="1427018"/>
            <a:ext cx="5396329" cy="3706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339099-55D1-F1AD-1562-DB906AE18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620" y="1427018"/>
            <a:ext cx="5386575" cy="369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2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D9F801-A03D-4521-7E9D-F8AEF8CCF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4" y="1427018"/>
            <a:ext cx="3717560" cy="398443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472116-1D6B-1B43-F2B5-D5FC2D60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45" y="286053"/>
            <a:ext cx="9404723" cy="1140965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EXPLORATORY DATA ANALYSIS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61FC5-1DA8-0C09-5AAE-4A2B7566F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805" y="1427018"/>
            <a:ext cx="3717560" cy="3984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578A7C-D411-555F-E8BA-68FE8CEFA5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276" y="1427019"/>
            <a:ext cx="4093909" cy="3984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3C35BE-FD35-D855-37F4-3E4396310989}"/>
              </a:ext>
            </a:extLst>
          </p:cNvPr>
          <p:cNvSpPr txBox="1"/>
          <p:nvPr/>
        </p:nvSpPr>
        <p:spPr>
          <a:xfrm>
            <a:off x="108334" y="5629084"/>
            <a:ext cx="3717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Column ‘Date’ set to index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No duplicates found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FF00"/>
                </a:solidFill>
              </a:rPr>
              <a:t>No null values</a:t>
            </a:r>
          </a:p>
        </p:txBody>
      </p:sp>
    </p:spTree>
    <p:extLst>
      <p:ext uri="{BB962C8B-B14F-4D97-AF65-F5344CB8AC3E}">
        <p14:creationId xmlns:p14="http://schemas.microsoft.com/office/powerpoint/2010/main" val="230691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7A19-DB01-8FF2-B53B-41D99FF8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4AAB-6040-DA75-A873-F55318CC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1" y="316305"/>
            <a:ext cx="6393661" cy="1400530"/>
          </a:xfrm>
        </p:spPr>
        <p:txBody>
          <a:bodyPr/>
          <a:lstStyle/>
          <a:p>
            <a:r>
              <a:rPr lang="en-US" sz="4400" b="1" dirty="0">
                <a:solidFill>
                  <a:schemeClr val="tx1">
                    <a:lumMod val="75000"/>
                  </a:schemeClr>
                </a:solidFill>
              </a:rPr>
              <a:t>DATA VISUALIZATION</a:t>
            </a:r>
            <a:endParaRPr lang="en-IN" sz="44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D356EF-F69B-3896-DF1D-242E660BF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26" y="1278747"/>
            <a:ext cx="5026021" cy="21825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C4F8C4-5C60-9AD7-7E97-77CF2A9F9D4E}"/>
              </a:ext>
            </a:extLst>
          </p:cNvPr>
          <p:cNvSpPr txBox="1"/>
          <p:nvPr/>
        </p:nvSpPr>
        <p:spPr>
          <a:xfrm>
            <a:off x="1816360" y="3461346"/>
            <a:ext cx="4262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ORIGINAL DATA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97AED-94E7-AE42-B2A7-69C763AFC293}"/>
              </a:ext>
            </a:extLst>
          </p:cNvPr>
          <p:cNvSpPr txBox="1"/>
          <p:nvPr/>
        </p:nvSpPr>
        <p:spPr>
          <a:xfrm>
            <a:off x="7413569" y="3495372"/>
            <a:ext cx="2946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2. FREQ DIST OF PRICE</a:t>
            </a:r>
            <a:endParaRPr lang="en-IN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85BD8D-825D-56BC-568E-EAB61AD60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922" y="1280413"/>
            <a:ext cx="5260849" cy="2148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C33E5-DC67-F118-086E-30A9F84AB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27" y="4066236"/>
            <a:ext cx="5026021" cy="2148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FE44DC-E404-217D-EDA3-8AFC98EE3AD3}"/>
              </a:ext>
            </a:extLst>
          </p:cNvPr>
          <p:cNvSpPr txBox="1"/>
          <p:nvPr/>
        </p:nvSpPr>
        <p:spPr>
          <a:xfrm>
            <a:off x="2214545" y="6250920"/>
            <a:ext cx="1977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Lag plot</a:t>
            </a:r>
            <a:endParaRPr lang="en-IN" sz="20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7AE983-98AC-C305-7148-8F1CD39141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09" y="4066237"/>
            <a:ext cx="5164898" cy="21485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1127D6-BCE4-60CA-0BA2-CF15AE3F20F1}"/>
              </a:ext>
            </a:extLst>
          </p:cNvPr>
          <p:cNvSpPr txBox="1"/>
          <p:nvPr/>
        </p:nvSpPr>
        <p:spPr>
          <a:xfrm>
            <a:off x="7863186" y="6250920"/>
            <a:ext cx="2856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4. KDE PLOT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54239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C8D7-E287-A25E-F1FB-4060530B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0450-B8CE-0EAD-79A9-AFBE8DF4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111" y="427158"/>
            <a:ext cx="9773406" cy="1057427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DATA VISUALIZATION 2001- 2024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73D40C-E507-14EE-01D5-15A249F26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46" y="1474994"/>
            <a:ext cx="5137244" cy="22489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829A23-AC45-AA7A-68E0-8F73CA896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47" y="1484585"/>
            <a:ext cx="5137244" cy="2239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D57CC-95B6-E0E6-3343-36C090082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93" y="4019455"/>
            <a:ext cx="6131844" cy="259475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594571-3561-A730-8018-370E1380DEB6}"/>
              </a:ext>
            </a:extLst>
          </p:cNvPr>
          <p:cNvSpPr/>
          <p:nvPr/>
        </p:nvSpPr>
        <p:spPr>
          <a:xfrm>
            <a:off x="366346" y="3842157"/>
            <a:ext cx="1753465" cy="53484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b="1" u="sng" dirty="0">
                <a:solidFill>
                  <a:schemeClr val="accent4">
                    <a:lumMod val="50000"/>
                  </a:schemeClr>
                </a:solidFill>
              </a:rPr>
              <a:t>MONTHLY</a:t>
            </a:r>
            <a:endParaRPr lang="en-IN" sz="2300" b="1" u="sng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8BA699-F37C-F383-AC32-718ABF917929}"/>
              </a:ext>
            </a:extLst>
          </p:cNvPr>
          <p:cNvSpPr/>
          <p:nvPr/>
        </p:nvSpPr>
        <p:spPr>
          <a:xfrm>
            <a:off x="10169517" y="3876562"/>
            <a:ext cx="1436174" cy="53484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b="1" u="sng" dirty="0">
                <a:solidFill>
                  <a:schemeClr val="accent4">
                    <a:lumMod val="50000"/>
                  </a:schemeClr>
                </a:solidFill>
              </a:rPr>
              <a:t>YEARLY</a:t>
            </a:r>
            <a:endParaRPr lang="en-IN" sz="2300" b="1" u="sng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E612D-405A-32B6-F2F5-EB70263D8B03}"/>
              </a:ext>
            </a:extLst>
          </p:cNvPr>
          <p:cNvSpPr/>
          <p:nvPr/>
        </p:nvSpPr>
        <p:spPr>
          <a:xfrm>
            <a:off x="9037069" y="6055168"/>
            <a:ext cx="1610254" cy="53484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b="1" u="sng" dirty="0">
                <a:solidFill>
                  <a:schemeClr val="accent4">
                    <a:lumMod val="50000"/>
                  </a:schemeClr>
                </a:solidFill>
              </a:rPr>
              <a:t>BOXPLOT</a:t>
            </a:r>
            <a:endParaRPr lang="en-IN" sz="2300" b="1" u="sng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01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16E4-989F-CD33-12A1-64A866FB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37A0-807A-DFEA-AE0F-46CB33B6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65" y="247048"/>
            <a:ext cx="9404723" cy="1057427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ADF TEST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94BB2D-0FD3-B2E6-F49F-5A5BB3D19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0130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3B14AC-937B-A5D5-DF1A-6286902C3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8836"/>
            <a:ext cx="12192000" cy="4039164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E9DD8066-E1B5-C1CD-67D7-8D1CDE273CC1}"/>
              </a:ext>
            </a:extLst>
          </p:cNvPr>
          <p:cNvSpPr/>
          <p:nvPr/>
        </p:nvSpPr>
        <p:spPr>
          <a:xfrm>
            <a:off x="105165" y="80792"/>
            <a:ext cx="3158836" cy="1126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STATIONARITY TEST</a:t>
            </a:r>
          </a:p>
        </p:txBody>
      </p:sp>
    </p:spTree>
    <p:extLst>
      <p:ext uri="{BB962C8B-B14F-4D97-AF65-F5344CB8AC3E}">
        <p14:creationId xmlns:p14="http://schemas.microsoft.com/office/powerpoint/2010/main" val="331726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58FCC-60B3-4BBD-E0DA-32F7CF9B9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745" y="0"/>
            <a:ext cx="626225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AAD59A-2056-CFAE-33F0-97BDB0A43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83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0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D7B-E5E6-B002-E7E2-5A845D10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03D8A20-ECA0-ECC3-EE80-8D76BFBDE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249" y="8500"/>
            <a:ext cx="5395688" cy="3420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EFBEC0-45FF-1AA9-239A-27185F319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17" y="3446733"/>
            <a:ext cx="5394752" cy="34027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5D791F-A8D3-9DB9-A871-8B92B462B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733"/>
            <a:ext cx="6797249" cy="6858000"/>
          </a:xfrm>
          <a:prstGeom prst="rect">
            <a:avLst/>
          </a:prstGeom>
        </p:spPr>
      </p:pic>
      <p:sp>
        <p:nvSpPr>
          <p:cNvPr id="6" name="Text Box 11">
            <a:extLst>
              <a:ext uri="{FF2B5EF4-FFF2-40B4-BE49-F238E27FC236}">
                <a16:creationId xmlns:a16="http://schemas.microsoft.com/office/drawing/2014/main" id="{A5FFA99E-0942-F279-29D6-B4B801394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4351" y="621548"/>
            <a:ext cx="3471334" cy="646331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3600" dirty="0">
                <a:solidFill>
                  <a:schemeClr val="bg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2519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Standardized data exchange: Key to achieving a smart factory - Valor">
            <a:extLst>
              <a:ext uri="{FF2B5EF4-FFF2-40B4-BE49-F238E27FC236}">
                <a16:creationId xmlns:a16="http://schemas.microsoft.com/office/drawing/2014/main" id="{F2B1CDE2-57D4-2E5A-4014-09E9EF033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1" y="0"/>
            <a:ext cx="6441947" cy="6854463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BBB97E-269C-FDDD-F954-808FDCD13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908" y="0"/>
            <a:ext cx="5690092" cy="34254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E97A75-0A55-F684-1A43-71FEA2C7E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908" y="3429000"/>
            <a:ext cx="5690092" cy="3425463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99BED87-1BA9-09F7-2620-19BB9DC9C7B6}"/>
              </a:ext>
            </a:extLst>
          </p:cNvPr>
          <p:cNvSpPr txBox="1">
            <a:spLocks/>
          </p:cNvSpPr>
          <p:nvPr/>
        </p:nvSpPr>
        <p:spPr>
          <a:xfrm>
            <a:off x="554635" y="0"/>
            <a:ext cx="5741233" cy="92542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FEATURE SCALING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1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C7F9-05A8-918D-FF08-80AFF4DBCFA8}"/>
              </a:ext>
            </a:extLst>
          </p:cNvPr>
          <p:cNvSpPr txBox="1">
            <a:spLocks/>
          </p:cNvSpPr>
          <p:nvPr/>
        </p:nvSpPr>
        <p:spPr>
          <a:xfrm>
            <a:off x="216229" y="299183"/>
            <a:ext cx="10784507" cy="105742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LOG TRANSFORMATION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5094D3-4926-6803-13DC-99BAA73A8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70623" cy="685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48F065-3FD7-F80D-37AF-D22761CAD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21" y="0"/>
            <a:ext cx="5521379" cy="38824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DB370D-40F7-9E42-728F-D595AE996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22" y="3882451"/>
            <a:ext cx="5521377" cy="297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30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6684FA-CF08-0436-5ECD-F819A94BE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88" y="1356610"/>
            <a:ext cx="5287111" cy="5501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357578-0662-C785-B983-F94A82B90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56610"/>
            <a:ext cx="7180288" cy="27506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F5FA5-05C3-A457-7E10-CE0D496D1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107305"/>
            <a:ext cx="7180287" cy="27506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C9B6C9-9C1A-D4F0-5ABF-7EAB732C3C75}"/>
              </a:ext>
            </a:extLst>
          </p:cNvPr>
          <p:cNvSpPr txBox="1">
            <a:spLocks/>
          </p:cNvSpPr>
          <p:nvPr/>
        </p:nvSpPr>
        <p:spPr>
          <a:xfrm>
            <a:off x="216229" y="299183"/>
            <a:ext cx="10784507" cy="105742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DATA AFTER LOG TRANSFORMATION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66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C797C-8C17-285F-D9AF-DD0538EB1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766" y="1807168"/>
            <a:ext cx="6092236" cy="5063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A60601-18F0-7C7F-2602-B1A5838F9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6754"/>
            <a:ext cx="6092236" cy="2523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8A79A-C3ED-AB2F-1B68-98022EE33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07168"/>
            <a:ext cx="6092235" cy="252707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648A9F5-0A08-F172-42D0-311131A39D84}"/>
              </a:ext>
            </a:extLst>
          </p:cNvPr>
          <p:cNvSpPr txBox="1">
            <a:spLocks/>
          </p:cNvSpPr>
          <p:nvPr/>
        </p:nvSpPr>
        <p:spPr>
          <a:xfrm>
            <a:off x="204574" y="28341"/>
            <a:ext cx="10784507" cy="105742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DATA AFTER DIFFERENCING LOG TRANSFORMATION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045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752A-2535-9B07-A7BE-75FD94676C6D}"/>
              </a:ext>
            </a:extLst>
          </p:cNvPr>
          <p:cNvSpPr txBox="1">
            <a:spLocks/>
          </p:cNvSpPr>
          <p:nvPr/>
        </p:nvSpPr>
        <p:spPr>
          <a:xfrm>
            <a:off x="204574" y="28341"/>
            <a:ext cx="10784507" cy="172550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SEQUENTIAL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AAD86A-5485-6140-C9CA-4B22AD19E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773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7512A0-A181-263B-CA8C-9F8E07111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3999"/>
            <a:ext cx="12191999" cy="209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3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A3798-D0D5-F3B3-88EA-6D73BE054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961" y="-1"/>
            <a:ext cx="7560039" cy="2324424"/>
          </a:xfrm>
          <a:prstGeom prst="rect">
            <a:avLst/>
          </a:prstGeom>
        </p:spPr>
      </p:pic>
      <p:pic>
        <p:nvPicPr>
          <p:cNvPr id="1026" name="Picture 2" descr="Time-series modeling and forecasting. The figure shows a uniformly sampled time series (black), a model fit (blue), and predictions of the model (orange). ">
            <a:extLst>
              <a:ext uri="{FF2B5EF4-FFF2-40B4-BE49-F238E27FC236}">
                <a16:creationId xmlns:a16="http://schemas.microsoft.com/office/drawing/2014/main" id="{710D2B00-A10B-923C-572B-C1DF8E85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961" y="2324423"/>
            <a:ext cx="7560039" cy="4533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4767CA-8C5B-3BCE-F2F3-39A96CE27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4631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33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9FE06F1-0FCB-7B09-03DF-5C8944A407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761344" cy="176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6E92F-5DA1-7962-F638-09DAF15A8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084"/>
            <a:ext cx="12192000" cy="546391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21CD74E-09E5-2144-9877-CBED2C745296}"/>
              </a:ext>
            </a:extLst>
          </p:cNvPr>
          <p:cNvSpPr txBox="1">
            <a:spLocks/>
          </p:cNvSpPr>
          <p:nvPr/>
        </p:nvSpPr>
        <p:spPr>
          <a:xfrm>
            <a:off x="3908121" y="336657"/>
            <a:ext cx="4070958" cy="105742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DEPLOYMENT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359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B82106-E915-8737-A3D9-7198CD5FF893}"/>
              </a:ext>
            </a:extLst>
          </p:cNvPr>
          <p:cNvSpPr txBox="1">
            <a:spLocks/>
          </p:cNvSpPr>
          <p:nvPr/>
        </p:nvSpPr>
        <p:spPr>
          <a:xfrm>
            <a:off x="0" y="253193"/>
            <a:ext cx="10784507" cy="105742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800" b="1" dirty="0">
                <a:solidFill>
                  <a:schemeClr val="tx1">
                    <a:lumMod val="75000"/>
                  </a:schemeClr>
                </a:solidFill>
              </a:rPr>
              <a:t>CHALLENGES FACED</a:t>
            </a:r>
            <a:endParaRPr lang="en-IN" sz="4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3371A6-5916-FB96-B2AB-843D866CAEEA}"/>
              </a:ext>
            </a:extLst>
          </p:cNvPr>
          <p:cNvSpPr txBox="1"/>
          <p:nvPr/>
        </p:nvSpPr>
        <p:spPr>
          <a:xfrm>
            <a:off x="856550" y="1407037"/>
            <a:ext cx="94117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COLLECTING THE DATSET FROM VARIOUS SOURCES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SELECTING THE RIGHT DATASET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CONVERT DATA INTO STANDARD FORMAT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SELECTING THE RIGHT MODEL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MODEL DEPLOYMENT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32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368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2051</TotalTime>
  <Words>221</Words>
  <Application>Microsoft Office PowerPoint</Application>
  <PresentationFormat>Widescreen</PresentationFormat>
  <Paragraphs>48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PROJECT ARCHITECTURE</vt:lpstr>
      <vt:lpstr>DATASET DETAILS</vt:lpstr>
      <vt:lpstr>EXPLORATORY DATA ANALYSIS</vt:lpstr>
      <vt:lpstr>DATA VISUALIZATION</vt:lpstr>
      <vt:lpstr>DATA VISUALIZATION 2001- 2024</vt:lpstr>
      <vt:lpstr>ADF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Laishram Singh</dc:creator>
  <cp:lastModifiedBy>Ajinkya Galande</cp:lastModifiedBy>
  <cp:revision>90</cp:revision>
  <dcterms:created xsi:type="dcterms:W3CDTF">2024-02-04T10:08:11Z</dcterms:created>
  <dcterms:modified xsi:type="dcterms:W3CDTF">2024-03-28T04:34:48Z</dcterms:modified>
</cp:coreProperties>
</file>