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9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25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741BE-FD88-4132-AD4F-01D7AB6F2156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726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1048727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1048728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1048729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091869-170F-4FD5-8F0E-AFCC878FF190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48625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091869-170F-4FD5-8F0E-AFCC878FF190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7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4860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0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0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5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6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8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8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8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9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65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8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6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8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99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7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0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0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71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2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4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7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7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7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2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3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1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32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1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15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1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2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13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7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1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1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2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48653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5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5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56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5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1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92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95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4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4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4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4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47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  <p:sp>
        <p:nvSpPr>
          <p:cNvPr id="1048649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50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80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4868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8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83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8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34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5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4863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3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38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39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  <p:sp>
        <p:nvSpPr>
          <p:cNvPr id="1048640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048641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05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</a:lvl2pPr>
            <a:lvl3pPr marL="914400" indent="0">
              <a:buFontTx/>
              <a:buNone/>
            </a:lvl3pPr>
            <a:lvl4pPr marL="1371600" indent="0">
              <a:buFontTx/>
              <a:buNone/>
            </a:lvl4pPr>
            <a:lvl5pPr marL="1828800" indent="0">
              <a:buFontTx/>
              <a:buNone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6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4870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70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0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59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6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6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66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66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8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71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72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72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4872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1048576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77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78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79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0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1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2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3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4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5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6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048587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4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048588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89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0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1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2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3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4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5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6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7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8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048599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1048600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48601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48602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BA462-765F-42BE-ADCB-A7B7A2C61CE4}" type="datetimeFigureOut">
              <a:rPr lang="en-IN" smtClean="0"/>
              <a:t>24-04-2024</a:t>
            </a:fld>
            <a:endParaRPr lang="en-IN"/>
          </a:p>
        </p:txBody>
      </p:sp>
      <p:sp>
        <p:nvSpPr>
          <p:cNvPr id="104860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48605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DDAAE04-0C7C-4DBF-B653-9F1B8E2626E7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304" y="0"/>
            <a:ext cx="8379295" cy="1845129"/>
          </a:xfrm>
          <a:prstGeom prst="rect">
            <a:avLst/>
          </a:prstGeom>
        </p:spPr>
      </p:pic>
      <p:sp>
        <p:nvSpPr>
          <p:cNvPr id="1048612" name="TextBox 7"/>
          <p:cNvSpPr txBox="1"/>
          <p:nvPr/>
        </p:nvSpPr>
        <p:spPr>
          <a:xfrm>
            <a:off x="2268416" y="1934308"/>
            <a:ext cx="742070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Berlin Sans FB Demi" panose="020E0802020502020306" pitchFamily="34" charset="0"/>
              </a:rPr>
              <a:t>      GROUP MEMBERS :-</a:t>
            </a:r>
          </a:p>
          <a:p>
            <a:endParaRPr lang="en-IN" dirty="0"/>
          </a:p>
          <a:p>
            <a:r>
              <a:rPr lang="en-IN" dirty="0"/>
              <a:t>            </a:t>
            </a:r>
            <a:r>
              <a:rPr lang="en-IN" sz="2400" dirty="0">
                <a:latin typeface="Arial Black" panose="020B0A04020102020204" pitchFamily="34" charset="0"/>
              </a:rPr>
              <a:t>1. MEGHANA VINNAKOTA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    2. PIYUSH CHAUDARI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    3. LAISHRAM SINGH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    4. DEVYANI PATIL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    5. PRADEEP HEGDE</a:t>
            </a:r>
          </a:p>
          <a:p>
            <a:r>
              <a:rPr lang="en-IN" sz="2400" dirty="0">
                <a:latin typeface="Arial Black" panose="020B0A04020102020204" pitchFamily="34" charset="0"/>
              </a:rPr>
              <a:t>        6. AJINKYA GALANDE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Google Shape;223;p29"/>
          <p:cNvSpPr txBox="1"/>
          <p:nvPr/>
        </p:nvSpPr>
        <p:spPr>
          <a:xfrm>
            <a:off x="1830343" y="844212"/>
            <a:ext cx="7704000" cy="826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OBJECTIVE</a:t>
            </a:r>
          </a:p>
        </p:txBody>
      </p:sp>
      <p:sp>
        <p:nvSpPr>
          <p:cNvPr id="1048618" name="Google Shape;230;p29"/>
          <p:cNvSpPr txBox="1"/>
          <p:nvPr/>
        </p:nvSpPr>
        <p:spPr>
          <a:xfrm>
            <a:off x="855448" y="1811215"/>
            <a:ext cx="10445262" cy="220614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Customer personality analysis helps a business to modify its product based on its target customers from different types of customer segments.</a:t>
            </a:r>
          </a:p>
          <a:p>
            <a:pPr algn="just">
              <a:spcBef>
                <a:spcPts val="0"/>
              </a:spcBef>
              <a:buFont typeface="Wingdings" panose="05000000000000000000" pitchFamily="2" charset="2"/>
              <a:buChar char="q"/>
            </a:pP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Finding the potential customers by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analysing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the </a:t>
            </a:r>
            <a:r>
              <a:rPr lang="en-US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behaviour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of them is useful to understand the targeted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Google Shape;223;p29"/>
          <p:cNvSpPr txBox="1"/>
          <p:nvPr/>
        </p:nvSpPr>
        <p:spPr>
          <a:xfrm>
            <a:off x="1830343" y="844212"/>
            <a:ext cx="7704000" cy="826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PROJECT FLOW</a:t>
            </a:r>
          </a:p>
        </p:txBody>
      </p:sp>
      <p:sp>
        <p:nvSpPr>
          <p:cNvPr id="1048620" name="TextBox 3"/>
          <p:cNvSpPr txBox="1"/>
          <p:nvPr/>
        </p:nvSpPr>
        <p:spPr>
          <a:xfrm>
            <a:off x="930729" y="1952965"/>
            <a:ext cx="7560128" cy="3691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Understanding business problem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Collection of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Cleaning of data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Exploratory data analysis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Model building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Model deployment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Google Shape;261;p32"/>
          <p:cNvSpPr txBox="1"/>
          <p:nvPr/>
        </p:nvSpPr>
        <p:spPr>
          <a:xfrm>
            <a:off x="2244000" y="539333"/>
            <a:ext cx="7704000" cy="7242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I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IMPORTING THE DATA</a:t>
            </a:r>
          </a:p>
        </p:txBody>
      </p:sp>
      <p:pic>
        <p:nvPicPr>
          <p:cNvPr id="2097153" name="Picture 3"/>
          <p:cNvPicPr>
            <a:picLocks noChangeAspect="1"/>
          </p:cNvPicPr>
          <p:nvPr/>
        </p:nvPicPr>
        <p:blipFill rotWithShape="1">
          <a:blip r:embed="rId2"/>
          <a:srcRect l="15548" t="26795" r="13318"/>
          <a:stretch>
            <a:fillRect/>
          </a:stretch>
        </p:blipFill>
        <p:spPr>
          <a:xfrm>
            <a:off x="1394464" y="1444076"/>
            <a:ext cx="10679542" cy="50622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2"/>
          <p:cNvSpPr txBox="1"/>
          <p:nvPr/>
        </p:nvSpPr>
        <p:spPr>
          <a:xfrm>
            <a:off x="1439361" y="334798"/>
            <a:ext cx="8592614" cy="8122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EXPLORATORY DATA ANALYSIS</a:t>
            </a:r>
          </a:p>
        </p:txBody>
      </p:sp>
      <p:pic>
        <p:nvPicPr>
          <p:cNvPr id="2097154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673" y="2004611"/>
            <a:ext cx="6527176" cy="4847088"/>
          </a:xfrm>
          <a:prstGeom prst="rect">
            <a:avLst/>
          </a:prstGeom>
        </p:spPr>
      </p:pic>
      <p:sp>
        <p:nvSpPr>
          <p:cNvPr id="1048731" name="TextBox 1048730"/>
          <p:cNvSpPr txBox="1"/>
          <p:nvPr/>
        </p:nvSpPr>
        <p:spPr>
          <a:xfrm>
            <a:off x="1439361" y="812274"/>
            <a:ext cx="10222988" cy="95410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n"/>
            </a:pPr>
            <a:r>
              <a:rPr lang="en-US" sz="2800" dirty="0">
                <a:solidFill>
                  <a:srgbClr val="000000"/>
                </a:solidFill>
              </a:rPr>
              <a:t>Conducted EDA using descriptive statistics like Mean, Median and Mode for the numerical values </a:t>
            </a:r>
            <a:endParaRPr lang="en-IN" sz="2800" dirty="0">
              <a:solidFill>
                <a:srgbClr val="000000"/>
              </a:solidFill>
            </a:endParaRPr>
          </a:p>
        </p:txBody>
      </p:sp>
      <p:pic>
        <p:nvPicPr>
          <p:cNvPr id="2097181" name="Picture 4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7281850" y="1998311"/>
            <a:ext cx="4910150" cy="485968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70" y="1847015"/>
            <a:ext cx="5273929" cy="5135661"/>
          </a:xfrm>
          <a:prstGeom prst="rect">
            <a:avLst/>
          </a:prstGeom>
        </p:spPr>
      </p:pic>
      <p:sp>
        <p:nvSpPr>
          <p:cNvPr id="1048732" name="TextBox 1048731"/>
          <p:cNvSpPr txBox="1"/>
          <p:nvPr/>
        </p:nvSpPr>
        <p:spPr>
          <a:xfrm>
            <a:off x="1559767" y="333382"/>
            <a:ext cx="10256548" cy="1384995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n"/>
            </a:pPr>
            <a:r>
              <a:rPr lang="en-US" sz="2800" dirty="0">
                <a:solidFill>
                  <a:srgbClr val="000000"/>
                </a:solidFill>
              </a:rPr>
              <a:t>Done some feature engineering to reduce the size of the dataset by adding some columns to form a new one along with label encoding to build a model</a:t>
            </a:r>
            <a:endParaRPr lang="en-IN" sz="2800" dirty="0">
              <a:solidFill>
                <a:srgbClr val="000000"/>
              </a:solidFill>
            </a:endParaRPr>
          </a:p>
        </p:txBody>
      </p:sp>
      <p:pic>
        <p:nvPicPr>
          <p:cNvPr id="2097183" name="Picture 2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688041" y="1847016"/>
            <a:ext cx="5503959" cy="50109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2"/>
          <p:cNvPicPr>
            <a:picLocks noChangeAspect="1"/>
          </p:cNvPicPr>
          <p:nvPr/>
        </p:nvPicPr>
        <p:blipFill rotWithShape="1">
          <a:blip r:embed="rId2"/>
          <a:srcRect l="6870" r="51439"/>
          <a:stretch>
            <a:fillRect/>
          </a:stretch>
        </p:blipFill>
        <p:spPr>
          <a:xfrm>
            <a:off x="1739138" y="387961"/>
            <a:ext cx="7526215" cy="1276528"/>
          </a:xfrm>
          <a:prstGeom prst="rect">
            <a:avLst/>
          </a:prstGeom>
        </p:spPr>
      </p:pic>
      <p:pic>
        <p:nvPicPr>
          <p:cNvPr id="2097160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9623" y="1664490"/>
            <a:ext cx="9185802" cy="51935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Picture 2"/>
          <p:cNvPicPr>
            <a:picLocks noChangeAspect="1"/>
          </p:cNvPicPr>
          <p:nvPr/>
        </p:nvPicPr>
        <p:blipFill rotWithShape="1">
          <a:blip r:embed="rId2"/>
          <a:srcRect l="4976" t="79799" r="54063" b="4018"/>
          <a:stretch>
            <a:fillRect/>
          </a:stretch>
        </p:blipFill>
        <p:spPr>
          <a:xfrm>
            <a:off x="1" y="0"/>
            <a:ext cx="11003171" cy="1497014"/>
          </a:xfrm>
          <a:prstGeom prst="rect">
            <a:avLst/>
          </a:prstGeom>
        </p:spPr>
      </p:pic>
      <p:pic>
        <p:nvPicPr>
          <p:cNvPr id="2097162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314" y="1497014"/>
            <a:ext cx="8932425" cy="5011606"/>
          </a:xfrm>
          <a:prstGeom prst="rect">
            <a:avLst/>
          </a:prstGeom>
        </p:spPr>
      </p:pic>
      <p:sp>
        <p:nvSpPr>
          <p:cNvPr id="1048734" name="TextBox 1048733"/>
          <p:cNvSpPr txBox="1"/>
          <p:nvPr/>
        </p:nvSpPr>
        <p:spPr>
          <a:xfrm>
            <a:off x="9470739" y="1804343"/>
            <a:ext cx="2731665" cy="489364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This signifies that the relationship between different variable ranging between 0 to 1 where 0 representing weak relationship and 1 representing strong relationship</a:t>
            </a:r>
            <a:endParaRPr lang="en-IN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Picture 6"/>
          <p:cNvPicPr>
            <a:picLocks noChangeAspect="1"/>
          </p:cNvPicPr>
          <p:nvPr/>
        </p:nvPicPr>
        <p:blipFill rotWithShape="1">
          <a:blip r:embed="rId2"/>
          <a:srcRect l="4615" r="17356" b="4740"/>
          <a:stretch>
            <a:fillRect/>
          </a:stretch>
        </p:blipFill>
        <p:spPr>
          <a:xfrm>
            <a:off x="2013791" y="1132757"/>
            <a:ext cx="10178209" cy="5725243"/>
          </a:xfrm>
          <a:prstGeom prst="rect">
            <a:avLst/>
          </a:prstGeom>
        </p:spPr>
      </p:pic>
      <p:sp>
        <p:nvSpPr>
          <p:cNvPr id="1048733" name="TextBox 1048732"/>
          <p:cNvSpPr txBox="1"/>
          <p:nvPr/>
        </p:nvSpPr>
        <p:spPr>
          <a:xfrm>
            <a:off x="1858826" y="178650"/>
            <a:ext cx="10333174" cy="954107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n"/>
            </a:pPr>
            <a:r>
              <a:rPr lang="en-US" sz="2800" dirty="0">
                <a:solidFill>
                  <a:srgbClr val="000000"/>
                </a:solidFill>
              </a:rPr>
              <a:t>Standardizing the data set values to have good accuracy and smooth model building</a:t>
            </a:r>
            <a:endParaRPr lang="en-IN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Picture 1"/>
          <p:cNvPicPr>
            <a:picLocks noChangeAspect="1"/>
          </p:cNvPicPr>
          <p:nvPr/>
        </p:nvPicPr>
        <p:blipFill rotWithShape="1">
          <a:blip r:embed="rId2"/>
          <a:srcRect l="4904" t="1264"/>
          <a:stretch>
            <a:fillRect/>
          </a:stretch>
        </p:blipFill>
        <p:spPr>
          <a:xfrm>
            <a:off x="2339353" y="1762295"/>
            <a:ext cx="8965142" cy="2468869"/>
          </a:xfrm>
          <a:prstGeom prst="rect">
            <a:avLst/>
          </a:prstGeom>
        </p:spPr>
      </p:pic>
      <p:pic>
        <p:nvPicPr>
          <p:cNvPr id="2097165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9353" y="4231165"/>
            <a:ext cx="9573494" cy="2626835"/>
          </a:xfrm>
          <a:prstGeom prst="rect">
            <a:avLst/>
          </a:prstGeom>
        </p:spPr>
      </p:pic>
      <p:sp>
        <p:nvSpPr>
          <p:cNvPr id="1048736" name="TextBox 1048735"/>
          <p:cNvSpPr txBox="1"/>
          <p:nvPr/>
        </p:nvSpPr>
        <p:spPr>
          <a:xfrm>
            <a:off x="1804761" y="497219"/>
            <a:ext cx="10274167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457200" indent="-457200">
              <a:buFont typeface="Wingdings" charset="2"/>
              <a:buChar char="n"/>
            </a:pPr>
            <a:r>
              <a:rPr lang="en-US" sz="2800" dirty="0">
                <a:solidFill>
                  <a:srgbClr val="000000"/>
                </a:solidFill>
              </a:rPr>
              <a:t>Built K Means Clustering and Hierarchical Clustering</a:t>
            </a:r>
            <a:endParaRPr lang="en-IN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6" name="Picture 2"/>
          <p:cNvPicPr>
            <a:picLocks noChangeAspect="1"/>
          </p:cNvPicPr>
          <p:nvPr/>
        </p:nvPicPr>
        <p:blipFill rotWithShape="1">
          <a:blip r:embed="rId3"/>
          <a:srcRect l="3783" t="3522" r="4558" b="24780"/>
          <a:stretch>
            <a:fillRect/>
          </a:stretch>
        </p:blipFill>
        <p:spPr>
          <a:xfrm>
            <a:off x="2197964" y="761052"/>
            <a:ext cx="9486038" cy="533589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Picture 2"/>
          <p:cNvPicPr>
            <a:picLocks noChangeAspect="1"/>
          </p:cNvPicPr>
          <p:nvPr/>
        </p:nvPicPr>
        <p:blipFill rotWithShape="1">
          <a:blip r:embed="rId2"/>
          <a:srcRect l="5415" t="14635" r="39685"/>
          <a:stretch>
            <a:fillRect/>
          </a:stretch>
        </p:blipFill>
        <p:spPr>
          <a:xfrm>
            <a:off x="0" y="0"/>
            <a:ext cx="5460023" cy="1740286"/>
          </a:xfrm>
          <a:prstGeom prst="rect">
            <a:avLst/>
          </a:prstGeom>
        </p:spPr>
      </p:pic>
      <p:pic>
        <p:nvPicPr>
          <p:cNvPr id="209716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406" y="1861151"/>
            <a:ext cx="8756325" cy="499684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Picture 2"/>
          <p:cNvPicPr>
            <a:picLocks noChangeAspect="1"/>
          </p:cNvPicPr>
          <p:nvPr/>
        </p:nvPicPr>
        <p:blipFill rotWithShape="1">
          <a:blip r:embed="rId2"/>
          <a:srcRect l="2622" t="3165" r="2862" b="4696"/>
          <a:stretch>
            <a:fillRect/>
          </a:stretch>
        </p:blipFill>
        <p:spPr>
          <a:xfrm>
            <a:off x="1616302" y="289838"/>
            <a:ext cx="10121611" cy="3778253"/>
          </a:xfrm>
          <a:prstGeom prst="rect">
            <a:avLst/>
          </a:prstGeom>
        </p:spPr>
      </p:pic>
      <p:pic>
        <p:nvPicPr>
          <p:cNvPr id="2097170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390" y="4068091"/>
            <a:ext cx="7656158" cy="278990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Picture 4"/>
          <p:cNvPicPr>
            <a:picLocks noChangeAspect="1"/>
          </p:cNvPicPr>
          <p:nvPr/>
        </p:nvPicPr>
        <p:blipFill rotWithShape="1">
          <a:blip r:embed="rId2"/>
          <a:srcRect l="4760" t="11694" r="41659" b="12063"/>
          <a:stretch>
            <a:fillRect/>
          </a:stretch>
        </p:blipFill>
        <p:spPr>
          <a:xfrm>
            <a:off x="1344270" y="0"/>
            <a:ext cx="10218002" cy="2057900"/>
          </a:xfrm>
          <a:prstGeom prst="rect">
            <a:avLst/>
          </a:prstGeom>
        </p:spPr>
      </p:pic>
      <p:pic>
        <p:nvPicPr>
          <p:cNvPr id="2097172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270" y="2162050"/>
            <a:ext cx="10847730" cy="447469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Picture 2"/>
          <p:cNvPicPr>
            <a:picLocks noChangeAspect="1"/>
          </p:cNvPicPr>
          <p:nvPr/>
        </p:nvPicPr>
        <p:blipFill rotWithShape="1">
          <a:blip r:embed="rId2"/>
          <a:srcRect l="4255" r="12091" b="15953"/>
          <a:stretch>
            <a:fillRect/>
          </a:stretch>
        </p:blipFill>
        <p:spPr>
          <a:xfrm>
            <a:off x="1636422" y="458075"/>
            <a:ext cx="9812922" cy="594184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4" name="Picture 2"/>
          <p:cNvPicPr>
            <a:picLocks noChangeAspect="1"/>
          </p:cNvPicPr>
          <p:nvPr/>
        </p:nvPicPr>
        <p:blipFill rotWithShape="1">
          <a:blip r:embed="rId2"/>
          <a:srcRect l="7522" t="7679" r="30878"/>
          <a:stretch>
            <a:fillRect/>
          </a:stretch>
        </p:blipFill>
        <p:spPr>
          <a:xfrm>
            <a:off x="1747744" y="249025"/>
            <a:ext cx="5117123" cy="1802926"/>
          </a:xfrm>
          <a:prstGeom prst="rect">
            <a:avLst/>
          </a:prstGeom>
        </p:spPr>
      </p:pic>
      <p:pic>
        <p:nvPicPr>
          <p:cNvPr id="209717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190" y="2051951"/>
            <a:ext cx="8270643" cy="45632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Picture 2"/>
          <p:cNvPicPr>
            <a:picLocks noChangeAspect="1"/>
          </p:cNvPicPr>
          <p:nvPr/>
        </p:nvPicPr>
        <p:blipFill rotWithShape="1">
          <a:blip r:embed="rId2"/>
          <a:srcRect l="16082" t="34872" r="17644"/>
          <a:stretch>
            <a:fillRect/>
          </a:stretch>
        </p:blipFill>
        <p:spPr>
          <a:xfrm>
            <a:off x="1547920" y="828779"/>
            <a:ext cx="10150388" cy="580932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7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582" y="1650727"/>
            <a:ext cx="10184417" cy="5207272"/>
          </a:xfrm>
          <a:prstGeom prst="rect">
            <a:avLst/>
          </a:prstGeom>
        </p:spPr>
      </p:pic>
      <p:sp>
        <p:nvSpPr>
          <p:cNvPr id="1048626" name="Google Shape;223;p29"/>
          <p:cNvSpPr txBox="1"/>
          <p:nvPr/>
        </p:nvSpPr>
        <p:spPr>
          <a:xfrm>
            <a:off x="1839136" y="0"/>
            <a:ext cx="7704000" cy="8266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I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 Math" panose="02040503050406030204" pitchFamily="18" charset="0"/>
                <a:ea typeface="Cambria Math" panose="02040503050406030204" pitchFamily="18" charset="0"/>
              </a:rPr>
              <a:t>MODEL DEPLOYMENT</a:t>
            </a:r>
          </a:p>
        </p:txBody>
      </p:sp>
      <p:sp>
        <p:nvSpPr>
          <p:cNvPr id="1048735" name="TextBox 1048734"/>
          <p:cNvSpPr txBox="1"/>
          <p:nvPr/>
        </p:nvSpPr>
        <p:spPr>
          <a:xfrm>
            <a:off x="2007583" y="721086"/>
            <a:ext cx="10074490" cy="52322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0000"/>
                </a:solidFill>
              </a:rPr>
              <a:t>Built a deployment model based on the clustering model </a:t>
            </a:r>
            <a:endParaRPr lang="en-IN" sz="28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593" y="656428"/>
            <a:ext cx="10181575" cy="554514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9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953" y="336334"/>
            <a:ext cx="10247468" cy="618533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67000"/>
              </a:schemeClr>
            </a:gs>
            <a:gs pos="48000">
              <a:schemeClr val="accent2">
                <a:lumMod val="97000"/>
                <a:lumOff val="3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7" name="Title 1"/>
          <p:cNvSpPr txBox="1"/>
          <p:nvPr/>
        </p:nvSpPr>
        <p:spPr>
          <a:xfrm>
            <a:off x="2601439" y="2604563"/>
            <a:ext cx="6367800" cy="305128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IN" sz="8000">
                <a:latin typeface="Cambria Math" panose="02040503050406030204" pitchFamily="18" charset="0"/>
                <a:ea typeface="Cambria Math" panose="02040503050406030204" pitchFamily="18" charset="0"/>
              </a:rPr>
              <a:t>THANK YOU</a:t>
            </a:r>
            <a:endParaRPr lang="en-IN" sz="80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199</Words>
  <Application>Microsoft Office PowerPoint</Application>
  <PresentationFormat>Widescreen</PresentationFormat>
  <Paragraphs>29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Arial Black</vt:lpstr>
      <vt:lpstr>Berlin Sans FB Demi</vt:lpstr>
      <vt:lpstr>Calibri</vt:lpstr>
      <vt:lpstr>Cambria Math</vt:lpstr>
      <vt:lpstr>Century Gothic</vt:lpstr>
      <vt:lpstr>Wingdings</vt:lpstr>
      <vt:lpstr>Wingdings 3</vt:lpstr>
      <vt:lpstr>Wisp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Ajinkya Galande</dc:creator>
  <cp:lastModifiedBy>Laishram Singh</cp:lastModifiedBy>
  <cp:revision>7</cp:revision>
  <dcterms:created xsi:type="dcterms:W3CDTF">2024-04-24T04:27:29Z</dcterms:created>
  <dcterms:modified xsi:type="dcterms:W3CDTF">2024-04-24T17:58:16Z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a0c606532ab44cb188f57f65be230c63</vt:lpwstr>
  </property>
</Properties>
</file>